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40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10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6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C0C0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0" y="0"/>
            <a:ext cx="2438705" cy="6858000"/>
          </a:xfrm>
          <a:prstGeom prst="rect">
            <a:avLst/>
          </a:prstGeom>
          <a:solidFill>
            <a:srgbClr val="0C0C0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0" y="0"/>
            <a:ext cx="247802" cy="6858000"/>
          </a:xfrm>
          <a:prstGeom prst="rect">
            <a:avLst/>
          </a:prstGeom>
          <a:solidFill>
            <a:srgbClr val="0C0C0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30545" y="0"/>
            <a:ext cx="247802" cy="6858000"/>
          </a:xfrm>
          <a:prstGeom prst="rect">
            <a:avLst/>
          </a:prstGeom>
          <a:solidFill>
            <a:srgbClr val="0C0C0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73775" y="0"/>
            <a:ext cx="247802" cy="6858000"/>
          </a:xfrm>
          <a:prstGeom prst="rect">
            <a:avLst/>
          </a:prstGeom>
          <a:solidFill>
            <a:srgbClr val="0C0C0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217920" y="0"/>
            <a:ext cx="247802" cy="6858000"/>
          </a:xfrm>
          <a:prstGeom prst="rect">
            <a:avLst/>
          </a:prstGeom>
          <a:solidFill>
            <a:srgbClr val="0C0C0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62065" y="0"/>
            <a:ext cx="247802" cy="6858000"/>
          </a:xfrm>
          <a:prstGeom prst="rect">
            <a:avLst/>
          </a:prstGeom>
          <a:solidFill>
            <a:srgbClr val="0C0C0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705295" y="0"/>
            <a:ext cx="247802" cy="6858000"/>
          </a:xfrm>
          <a:prstGeom prst="rect">
            <a:avLst/>
          </a:prstGeom>
          <a:solidFill>
            <a:srgbClr val="0C0C0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49440" y="0"/>
            <a:ext cx="247802" cy="6858000"/>
          </a:xfrm>
          <a:prstGeom prst="rect">
            <a:avLst/>
          </a:prstGeom>
          <a:solidFill>
            <a:srgbClr val="0C0C0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193585" y="0"/>
            <a:ext cx="247802" cy="6858000"/>
          </a:xfrm>
          <a:prstGeom prst="rect">
            <a:avLst/>
          </a:prstGeom>
          <a:solidFill>
            <a:srgbClr val="0C0C0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36815" y="0"/>
            <a:ext cx="247802" cy="6858000"/>
          </a:xfrm>
          <a:prstGeom prst="rect">
            <a:avLst/>
          </a:prstGeom>
          <a:solidFill>
            <a:srgbClr val="0C0C0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680960" y="0"/>
            <a:ext cx="247802" cy="6858000"/>
          </a:xfrm>
          <a:prstGeom prst="rect">
            <a:avLst/>
          </a:prstGeom>
          <a:solidFill>
            <a:srgbClr val="0C0C0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761695" y="2257654"/>
            <a:ext cx="116211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300" b="1" kern="0" spc="-150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630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3209544"/>
            <a:ext cx="116211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kern="0" spc="-37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Missing Modality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761695" y="4028846"/>
            <a:ext cx="28346" cy="571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981151" y="4028846"/>
            <a:ext cx="462046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Exploring the next frontier of robot-world interaction through touch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472123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55350" y="6472123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01/08</a:t>
            </a:r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6838798"/>
            <a:ext cx="12191695" cy="192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"/>
          </a:blip>
          <a:srcRect/>
          <a:stretch/>
        </p:blipFill>
        <p:spPr>
          <a:xfrm>
            <a:off x="6953098" y="952805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1500" y="381305"/>
            <a:ext cx="11239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WHY DO ROBOTS STILL FALL?</a:t>
            </a:r>
            <a:endParaRPr lang="en-US" sz="3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71500" y="1076249"/>
            <a:ext cx="761695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1304849"/>
            <a:ext cx="762061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kern="0" spc="-375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80%</a:t>
            </a:r>
            <a:endParaRPr lang="en-US" sz="12000" dirty="0"/>
          </a:p>
        </p:txBody>
      </p:sp>
      <p:sp>
        <p:nvSpPr>
          <p:cNvPr id="8" name="Text 4"/>
          <p:cNvSpPr txBox="1"/>
          <p:nvPr/>
        </p:nvSpPr>
        <p:spPr>
          <a:xfrm>
            <a:off x="619049" y="2734056"/>
            <a:ext cx="797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robot behavior can be learned from video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71500" y="3571646"/>
            <a:ext cx="7530084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remaining </a:t>
            </a:r>
            <a:r>
              <a:rPr lang="en-US" sz="2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r>
              <a:rPr lang="en-US" sz="21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requires physical interaction with the real world.</a:t>
            </a:r>
            <a:endParaRPr lang="en-US" sz="2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7" b="-7"/>
          <a:stretch/>
        </p:blipFill>
        <p:spPr>
          <a:xfrm>
            <a:off x="571500" y="4604004"/>
            <a:ext cx="7429500" cy="116220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5198" y="4842662"/>
            <a:ext cx="69064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Falling. Dropping fragile objects. Failing delicate tasks.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These failures share one root cause — robots cannot feel. 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71500" y="6420002"/>
            <a:ext cx="742950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571500" y="6571793"/>
            <a:ext cx="7506310" cy="28712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 data is the missing dimension. That's what we're building.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235233" y="6519672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02/08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  <p:pic>
        <p:nvPicPr>
          <p:cNvPr id="1026" name="Picture 2" descr="A robot struggles to walk, repeatedly falling forward and moving awkwardly  in random directions, until people step in to stop it in China’s Henan.  #humanoidrobot #chineserobot">
            <a:extLst>
              <a:ext uri="{FF2B5EF4-FFF2-40B4-BE49-F238E27FC236}">
                <a16:creationId xmlns:a16="http://schemas.microsoft.com/office/drawing/2014/main" id="{A2232398-99ED-B0D0-A811-0B565B9F9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012" y="1597458"/>
            <a:ext cx="2619525" cy="3768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6781191" y="0"/>
            <a:ext cx="48764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16534" r="16534"/>
          <a:stretch/>
        </p:blipFill>
        <p:spPr>
          <a:xfrm>
            <a:off x="180723" y="2123788"/>
            <a:ext cx="3598013" cy="300038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96405" y="1514246"/>
            <a:ext cx="228600" cy="228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315200" y="1457554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Snap-on hex modules </a:t>
            </a:r>
            <a:r>
              <a:rPr lang="en-US" sz="2100" b="1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5s swap</a:t>
            </a:r>
            <a:endParaRPr lang="en-US" sz="2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96405" y="2147011"/>
            <a:ext cx="228600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7315200" y="2089404"/>
            <a:ext cx="49441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55,000–72,000</a:t>
            </a: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sensels full-body</a:t>
            </a:r>
            <a:endParaRPr lang="en-US" sz="21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96405" y="2779776"/>
            <a:ext cx="228600" cy="2286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7315200" y="2722169"/>
            <a:ext cx="4405579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interface standard </a:t>
            </a:r>
            <a:r>
              <a:rPr lang="en-US" sz="2100" b="1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scales to any robot</a:t>
            </a:r>
            <a:endParaRPr lang="en-US" sz="2100" dirty="0"/>
          </a:p>
        </p:txBody>
      </p:sp>
      <p:sp>
        <p:nvSpPr>
          <p:cNvPr id="12" name="Shape 5"/>
          <p:cNvSpPr/>
          <p:nvPr/>
        </p:nvSpPr>
        <p:spPr>
          <a:xfrm>
            <a:off x="6896405" y="5667451"/>
            <a:ext cx="47247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6"/>
          <p:cNvSpPr txBox="1"/>
          <p:nvPr/>
        </p:nvSpPr>
        <p:spPr>
          <a:xfrm>
            <a:off x="6896405" y="5867705"/>
            <a:ext cx="4839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5-Layer Architecture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896405" y="6210605"/>
            <a:ext cx="933602" cy="75895"/>
          </a:xfrm>
          <a:prstGeom prst="roundRect">
            <a:avLst>
              <a:gd name="adj" fmla="val 602411"/>
            </a:avLst>
          </a:prstGeom>
          <a:solidFill>
            <a:srgbClr val="44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/>
          <p:cNvSpPr txBox="1"/>
          <p:nvPr/>
        </p:nvSpPr>
        <p:spPr>
          <a:xfrm>
            <a:off x="6858000" y="63815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Protective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7840980" y="6210605"/>
            <a:ext cx="933602" cy="75895"/>
          </a:xfrm>
          <a:prstGeom prst="roundRect">
            <a:avLst>
              <a:gd name="adj" fmla="val 602411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0"/>
          <p:cNvSpPr txBox="1"/>
          <p:nvPr/>
        </p:nvSpPr>
        <p:spPr>
          <a:xfrm>
            <a:off x="7802575" y="63815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</a:t>
            </a:r>
            <a:endParaRPr lang="en-US" sz="800" dirty="0"/>
          </a:p>
        </p:txBody>
      </p:sp>
      <p:sp>
        <p:nvSpPr>
          <p:cNvPr id="18" name="Shape 11"/>
          <p:cNvSpPr/>
          <p:nvPr/>
        </p:nvSpPr>
        <p:spPr>
          <a:xfrm>
            <a:off x="8785555" y="6210605"/>
            <a:ext cx="933602" cy="75895"/>
          </a:xfrm>
          <a:prstGeom prst="roundRect">
            <a:avLst>
              <a:gd name="adj" fmla="val 602411"/>
            </a:avLst>
          </a:prstGeom>
          <a:solidFill>
            <a:srgbClr val="5555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 txBox="1"/>
          <p:nvPr/>
        </p:nvSpPr>
        <p:spPr>
          <a:xfrm>
            <a:off x="8748065" y="63815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Thermal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9731045" y="6210605"/>
            <a:ext cx="933602" cy="75895"/>
          </a:xfrm>
          <a:prstGeom prst="roundRect">
            <a:avLst>
              <a:gd name="adj" fmla="val 602411"/>
            </a:avLst>
          </a:prstGeom>
          <a:solidFill>
            <a:srgbClr val="00A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 txBox="1"/>
          <p:nvPr/>
        </p:nvSpPr>
        <p:spPr>
          <a:xfrm>
            <a:off x="9692640" y="6381598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Array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10675620" y="6210605"/>
            <a:ext cx="952805" cy="75895"/>
          </a:xfrm>
          <a:prstGeom prst="roundRect">
            <a:avLst>
              <a:gd name="adj" fmla="val 602411"/>
            </a:avLst>
          </a:prstGeom>
          <a:solidFill>
            <a:srgbClr val="222222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10647274" y="6372454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FPC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571500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 </a:t>
            </a:r>
            <a:r>
              <a:rPr lang="en-US" sz="2700" b="1" kern="0" spc="-75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·</a:t>
            </a: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 Modular Tactile Intelligence</a:t>
            </a:r>
            <a:endParaRPr lang="en-US" sz="27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571500" y="1037844"/>
            <a:ext cx="761695" cy="3840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9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233404" y="6519672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03/08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8F86793E-98A9-E963-4CB1-CD6041A09C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322" r="33183"/>
          <a:stretch>
            <a:fillRect/>
          </a:stretch>
        </p:blipFill>
        <p:spPr>
          <a:xfrm>
            <a:off x="3873834" y="990478"/>
            <a:ext cx="2954905" cy="49238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1300000">
            <a:off x="0" y="1904695"/>
            <a:ext cx="12191695" cy="2857500"/>
          </a:xfrm>
          <a:prstGeom prst="rect">
            <a:avLst/>
          </a:prstGeom>
          <a:solidFill>
            <a:srgbClr val="00AA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1500" y="6324905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989527" y="6524244"/>
            <a:ext cx="7707478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modules feature unified magnetic connector + I2C interface 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3679546" y="6562649"/>
            <a:ext cx="190195" cy="1527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571500" y="2038198"/>
            <a:ext cx="3556102" cy="400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0644" y="2048256"/>
            <a:ext cx="3543300" cy="1904695"/>
          </a:xfrm>
          <a:prstGeom prst="roundRect">
            <a:avLst>
              <a:gd name="adj" fmla="val 576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87398" y="2238451"/>
            <a:ext cx="1524305" cy="15243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1754" y="4143146"/>
            <a:ext cx="1114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H-Series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3379622" y="4153205"/>
            <a:ext cx="552298" cy="267005"/>
          </a:xfrm>
          <a:prstGeom prst="roundRect">
            <a:avLst>
              <a:gd name="adj" fmla="val 97847"/>
            </a:avLst>
          </a:prstGeom>
          <a:solidFill>
            <a:srgbClr val="00AAFF">
              <a:alpha val="20000"/>
            </a:srgbClr>
          </a:solidFill>
          <a:ln w="12700">
            <a:solidFill>
              <a:srgbClr val="00AA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3379622" y="4153205"/>
            <a:ext cx="609905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771754" y="5401361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771754" y="4572000"/>
            <a:ext cx="3238805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361 sensels/cm²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0.1g sensitivity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500–1000Hz sampling 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71754" y="5600700"/>
            <a:ext cx="495605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43407" y="5600700"/>
            <a:ext cx="5532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1341425" y="5600700"/>
            <a:ext cx="552298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1313078" y="5600700"/>
            <a:ext cx="6099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Textile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1963217" y="5600700"/>
            <a:ext cx="914400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934870" y="5600700"/>
            <a:ext cx="9720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 Detection</a:t>
            </a:r>
            <a:endParaRPr lang="en-US" sz="8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17797" y="2038198"/>
            <a:ext cx="3556102" cy="40005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327855" y="2048256"/>
            <a:ext cx="3543300" cy="1904695"/>
          </a:xfrm>
          <a:prstGeom prst="roundRect">
            <a:avLst>
              <a:gd name="adj" fmla="val 576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33695" y="2238451"/>
            <a:ext cx="1524305" cy="15243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518050" y="4143146"/>
            <a:ext cx="1105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B-Series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7131406" y="4153205"/>
            <a:ext cx="543154" cy="267005"/>
          </a:xfrm>
          <a:prstGeom prst="roundRect">
            <a:avLst>
              <a:gd name="adj" fmla="val 97847"/>
            </a:avLst>
          </a:prstGeom>
          <a:solidFill>
            <a:srgbClr val="888888">
              <a:alpha val="20000"/>
            </a:srgbClr>
          </a:solidFill>
          <a:ln w="12700">
            <a:solidFill>
              <a:srgbClr val="8888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7131406" y="4153205"/>
            <a:ext cx="600761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BODY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18050" y="5401361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4518050" y="4572000"/>
            <a:ext cx="3238805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4–50 sensels/cm²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Standard coverage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Matte silicone finish 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18050" y="5600700"/>
            <a:ext cx="1009498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4489704" y="5600700"/>
            <a:ext cx="1067105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Detection</a:t>
            </a:r>
            <a:endParaRPr lang="en-US" sz="8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8064094" y="2038198"/>
            <a:ext cx="3556102" cy="40005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8074152" y="2048256"/>
            <a:ext cx="3543300" cy="1904695"/>
          </a:xfrm>
          <a:prstGeom prst="roundRect">
            <a:avLst>
              <a:gd name="adj" fmla="val 576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80906" y="2238451"/>
            <a:ext cx="1524305" cy="15243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64347" y="4143146"/>
            <a:ext cx="10863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F-Series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10894162" y="4153205"/>
            <a:ext cx="533095" cy="267005"/>
          </a:xfrm>
          <a:prstGeom prst="roundRect">
            <a:avLst>
              <a:gd name="adj" fmla="val 97847"/>
            </a:avLst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 txBox="1"/>
          <p:nvPr/>
        </p:nvSpPr>
        <p:spPr>
          <a:xfrm>
            <a:off x="10894162" y="4153205"/>
            <a:ext cx="59070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FOOT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8264347" y="5401361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 txBox="1"/>
          <p:nvPr/>
        </p:nvSpPr>
        <p:spPr>
          <a:xfrm>
            <a:off x="8264347" y="4572000"/>
            <a:ext cx="3238805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Reinforced TPU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200k+ cycles durability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Heavy-duty build 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264347" y="5600700"/>
            <a:ext cx="495605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/>
          <p:nvPr/>
        </p:nvSpPr>
        <p:spPr>
          <a:xfrm>
            <a:off x="8236001" y="5600700"/>
            <a:ext cx="5532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8834933" y="5600700"/>
            <a:ext cx="914400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8806586" y="5600700"/>
            <a:ext cx="972007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Slip Detection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571500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HEX MODULE SERIES</a:t>
            </a:r>
            <a:endParaRPr lang="en-US" sz="2700" dirty="0"/>
          </a:p>
        </p:txBody>
      </p:sp>
      <p:sp>
        <p:nvSpPr>
          <p:cNvPr id="45" name="Text 36"/>
          <p:cNvSpPr txBox="1"/>
          <p:nvPr/>
        </p:nvSpPr>
        <p:spPr>
          <a:xfrm>
            <a:off x="571500" y="942746"/>
            <a:ext cx="111639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kern="0" spc="-37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Standard · Three Variants</a:t>
            </a:r>
            <a:endParaRPr lang="en-US" sz="18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9"/>
          <a:srcRect t="-420" b="-420"/>
          <a:stretch/>
        </p:blipFill>
        <p:spPr>
          <a:xfrm>
            <a:off x="571500" y="1429207"/>
            <a:ext cx="761695" cy="38405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11230661" y="6519672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04/08</a:t>
            </a:r>
            <a:endParaRPr lang="en-US" sz="10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rcRect t="-40" b="-40"/>
          <a:stretch/>
        </p:blipFill>
        <p:spPr>
          <a:xfrm rot="600000">
            <a:off x="2560320" y="4943246"/>
            <a:ext cx="751637" cy="14173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rcRect l="-129" r="-129"/>
          <a:stretch/>
        </p:blipFill>
        <p:spPr>
          <a:xfrm rot="21300000">
            <a:off x="2926080" y="7000646"/>
            <a:ext cx="1139342" cy="108814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91840" y="3228746"/>
            <a:ext cx="75895" cy="75895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60320" y="4943246"/>
            <a:ext cx="75895" cy="75895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26080" y="7000646"/>
            <a:ext cx="75895" cy="75895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7"/>
          <a:srcRect t="42" b="42"/>
          <a:stretch/>
        </p:blipFill>
        <p:spPr>
          <a:xfrm>
            <a:off x="2067258" y="1359875"/>
            <a:ext cx="2678411" cy="4793124"/>
          </a:xfrm>
          <a:prstGeom prst="rect">
            <a:avLst/>
          </a:prstGeom>
        </p:spPr>
      </p:pic>
      <p:sp>
        <p:nvSpPr>
          <p:cNvPr id="12" name="Text 2"/>
          <p:cNvSpPr txBox="1"/>
          <p:nvPr/>
        </p:nvSpPr>
        <p:spPr>
          <a:xfrm>
            <a:off x="571500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Full Coverage </a:t>
            </a:r>
            <a:r>
              <a:rPr lang="en-US" sz="2700" b="1" kern="0" spc="-75" dirty="0">
                <a:solidFill>
                  <a:srgbClr val="FF6B3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·</a:t>
            </a: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 Accessible Cost</a:t>
            </a:r>
            <a:endParaRPr lang="en-US" sz="2700" dirty="0"/>
          </a:p>
        </p:txBody>
      </p:sp>
      <p:pic>
        <p:nvPicPr>
          <p:cNvPr id="13" name="Image 8" descr="preencoded.png"/>
          <p:cNvPicPr>
            <a:picLocks noChangeAspect="1"/>
          </p:cNvPicPr>
          <p:nvPr/>
        </p:nvPicPr>
        <p:blipFill>
          <a:blip r:embed="rId8"/>
          <a:srcRect t="-420" b="-420"/>
          <a:stretch/>
        </p:blipFill>
        <p:spPr>
          <a:xfrm>
            <a:off x="571500" y="1037844"/>
            <a:ext cx="761695" cy="38405"/>
          </a:xfrm>
          <a:prstGeom prst="rect">
            <a:avLst/>
          </a:prstGeom>
        </p:spPr>
      </p:pic>
      <p:sp>
        <p:nvSpPr>
          <p:cNvPr id="14" name="Shape 3"/>
          <p:cNvSpPr/>
          <p:nvPr/>
        </p:nvSpPr>
        <p:spPr>
          <a:xfrm>
            <a:off x="7315200" y="5871819"/>
            <a:ext cx="4304995" cy="485546"/>
          </a:xfrm>
          <a:prstGeom prst="roundRect">
            <a:avLst>
              <a:gd name="adj" fmla="val 59082"/>
            </a:avLst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4"/>
          <p:cNvSpPr/>
          <p:nvPr/>
        </p:nvSpPr>
        <p:spPr>
          <a:xfrm>
            <a:off x="7315200" y="5871819"/>
            <a:ext cx="28346" cy="485546"/>
          </a:xfrm>
          <a:prstGeom prst="roundRect">
            <a:avLst>
              <a:gd name="adj" fmla="val 1012032"/>
            </a:avLst>
          </a:prstGeom>
          <a:solidFill>
            <a:srgbClr val="00AAFF"/>
          </a:solidFill>
          <a:ln w="12700">
            <a:solidFill>
              <a:srgbClr val="00A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9"/>
          <a:srcRect l="-1282" r="-1282"/>
          <a:stretch/>
        </p:blipFill>
        <p:spPr>
          <a:xfrm>
            <a:off x="7534656" y="6019952"/>
            <a:ext cx="219456" cy="190195"/>
          </a:xfrm>
          <a:prstGeom prst="rect">
            <a:avLst/>
          </a:prstGeom>
        </p:spPr>
      </p:pic>
      <p:sp>
        <p:nvSpPr>
          <p:cNvPr id="17" name="Text 5"/>
          <p:cNvSpPr txBox="1"/>
          <p:nvPr/>
        </p:nvSpPr>
        <p:spPr>
          <a:xfrm>
            <a:off x="7895844" y="5871819"/>
            <a:ext cx="347746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volume manufacturing from day one.</a:t>
            </a:r>
            <a:endParaRPr lang="en-US" sz="1100" dirty="0"/>
          </a:p>
        </p:txBody>
      </p:sp>
      <p:sp>
        <p:nvSpPr>
          <p:cNvPr id="18" name="Shape 6"/>
          <p:cNvSpPr/>
          <p:nvPr/>
        </p:nvSpPr>
        <p:spPr>
          <a:xfrm>
            <a:off x="7315200" y="2200046"/>
            <a:ext cx="4304995" cy="3648456"/>
          </a:xfrm>
          <a:prstGeom prst="roundRect">
            <a:avLst>
              <a:gd name="adj" fmla="val 1571"/>
            </a:avLst>
          </a:prstGeom>
          <a:solidFill>
            <a:srgbClr val="13131A">
              <a:alpha val="80000"/>
            </a:srgbClr>
          </a:solidFill>
          <a:ln w="12700">
            <a:solidFill>
              <a:srgbClr val="FF6B3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7"/>
          <p:cNvSpPr/>
          <p:nvPr/>
        </p:nvSpPr>
        <p:spPr>
          <a:xfrm>
            <a:off x="7315200" y="2200046"/>
            <a:ext cx="38405" cy="3629254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8"/>
          <p:cNvSpPr txBox="1"/>
          <p:nvPr/>
        </p:nvSpPr>
        <p:spPr>
          <a:xfrm>
            <a:off x="7610551" y="2495398"/>
            <a:ext cx="39054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FF6B3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&lt; $3,000</a:t>
            </a:r>
            <a:endParaRPr lang="en-US" sz="4800" dirty="0"/>
          </a:p>
        </p:txBody>
      </p:sp>
      <p:sp>
        <p:nvSpPr>
          <p:cNvPr id="21" name="Shape 9"/>
          <p:cNvSpPr/>
          <p:nvPr/>
        </p:nvSpPr>
        <p:spPr>
          <a:xfrm>
            <a:off x="7610551" y="3600907"/>
            <a:ext cx="3715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0"/>
          <p:cNvSpPr txBox="1"/>
          <p:nvPr/>
        </p:nvSpPr>
        <p:spPr>
          <a:xfrm>
            <a:off x="7610551" y="3200400"/>
            <a:ext cx="37911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kern="0" spc="38" dirty="0">
                <a:solidFill>
                  <a:srgbClr val="FFFFFF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Projected Full-Body Coverage Cost</a:t>
            </a:r>
            <a:endParaRPr lang="en-US" sz="1300" dirty="0"/>
          </a:p>
        </p:txBody>
      </p:sp>
      <p:sp>
        <p:nvSpPr>
          <p:cNvPr id="23" name="Text 11"/>
          <p:cNvSpPr txBox="1"/>
          <p:nvPr/>
        </p:nvSpPr>
        <p:spPr>
          <a:xfrm>
            <a:off x="7610551" y="3847795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B-Series body modules (torso + limbs)</a:t>
            </a:r>
            <a:endParaRPr lang="en-US" sz="1200" dirty="0"/>
          </a:p>
        </p:txBody>
      </p:sp>
      <p:sp>
        <p:nvSpPr>
          <p:cNvPr id="24" name="Shape 12"/>
          <p:cNvSpPr/>
          <p:nvPr/>
        </p:nvSpPr>
        <p:spPr>
          <a:xfrm>
            <a:off x="7610551" y="3924605"/>
            <a:ext cx="75895" cy="75895"/>
          </a:xfrm>
          <a:prstGeom prst="ellipse">
            <a:avLst/>
          </a:prstGeom>
          <a:solidFill>
            <a:srgbClr val="8888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3"/>
          <p:cNvSpPr txBox="1"/>
          <p:nvPr/>
        </p:nvSpPr>
        <p:spPr>
          <a:xfrm>
            <a:off x="10737799" y="3847795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~$1,800</a:t>
            </a:r>
            <a:endParaRPr lang="en-US" sz="1200" dirty="0"/>
          </a:p>
        </p:txBody>
      </p:sp>
      <p:sp>
        <p:nvSpPr>
          <p:cNvPr id="26" name="Text 14"/>
          <p:cNvSpPr txBox="1"/>
          <p:nvPr/>
        </p:nvSpPr>
        <p:spPr>
          <a:xfrm>
            <a:off x="7610551" y="4219956"/>
            <a:ext cx="31281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H-Series hand modules (×2 gloves)</a:t>
            </a:r>
            <a:endParaRPr lang="en-US" sz="1200" dirty="0"/>
          </a:p>
        </p:txBody>
      </p:sp>
      <p:sp>
        <p:nvSpPr>
          <p:cNvPr id="27" name="Shape 15"/>
          <p:cNvSpPr/>
          <p:nvPr/>
        </p:nvSpPr>
        <p:spPr>
          <a:xfrm>
            <a:off x="7610551" y="4295851"/>
            <a:ext cx="75895" cy="75895"/>
          </a:xfrm>
          <a:prstGeom prst="ellipse">
            <a:avLst/>
          </a:prstGeom>
          <a:solidFill>
            <a:srgbClr val="00A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6"/>
          <p:cNvSpPr txBox="1"/>
          <p:nvPr/>
        </p:nvSpPr>
        <p:spPr>
          <a:xfrm>
            <a:off x="10848442" y="4219956"/>
            <a:ext cx="56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~$800</a:t>
            </a:r>
            <a:endParaRPr lang="en-US" sz="1200" dirty="0"/>
          </a:p>
        </p:txBody>
      </p:sp>
      <p:sp>
        <p:nvSpPr>
          <p:cNvPr id="29" name="Text 17"/>
          <p:cNvSpPr txBox="1"/>
          <p:nvPr/>
        </p:nvSpPr>
        <p:spPr>
          <a:xfrm>
            <a:off x="7610551" y="4591202"/>
            <a:ext cx="24633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F-Series foot modules (×2)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7610551" y="4667098"/>
            <a:ext cx="75895" cy="75895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9"/>
          <p:cNvSpPr txBox="1"/>
          <p:nvPr/>
        </p:nvSpPr>
        <p:spPr>
          <a:xfrm>
            <a:off x="10844784" y="4591202"/>
            <a:ext cx="56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~$400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7610551" y="5009998"/>
            <a:ext cx="3715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1"/>
          <p:cNvSpPr txBox="1"/>
          <p:nvPr/>
        </p:nvSpPr>
        <p:spPr>
          <a:xfrm>
            <a:off x="7610551" y="5266944"/>
            <a:ext cx="1175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Target</a:t>
            </a:r>
            <a:endParaRPr lang="en-US" sz="1200" dirty="0"/>
          </a:p>
        </p:txBody>
      </p:sp>
      <p:sp>
        <p:nvSpPr>
          <p:cNvPr id="34" name="Text 22"/>
          <p:cNvSpPr txBox="1"/>
          <p:nvPr/>
        </p:nvSpPr>
        <p:spPr>
          <a:xfrm>
            <a:off x="9422892" y="5210251"/>
            <a:ext cx="22027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&lt; $3,000 / unit</a:t>
            </a:r>
            <a:endParaRPr lang="en-US" sz="1800" dirty="0"/>
          </a:p>
        </p:txBody>
      </p:sp>
      <p:sp>
        <p:nvSpPr>
          <p:cNvPr id="35" name="Shape 2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4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37" name="Text 25"/>
          <p:cNvSpPr txBox="1"/>
          <p:nvPr/>
        </p:nvSpPr>
        <p:spPr>
          <a:xfrm>
            <a:off x="11234318" y="6519672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05/08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95544" y="4000500"/>
            <a:ext cx="6420002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FFFFF">
                    <a:alpha val="2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DATA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571500" y="6019495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52754" y="6034463"/>
            <a:ext cx="11163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standardized touch data format exists today. W</a:t>
            </a:r>
            <a:r>
              <a:rPr lang="en-US" altLang="zh-CN" sz="1300" i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 can’t we do one</a:t>
            </a:r>
            <a:r>
              <a:rPr lang="en-US" sz="1300" i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6402" y="1171346"/>
            <a:ext cx="483718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FFFFFF">
                    <a:alpha val="1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57707" y="1362456"/>
            <a:ext cx="10913364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Video gave robots eyes. 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00A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Touch will give robots judgment.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71500" y="2702966"/>
            <a:ext cx="3524098" cy="3038551"/>
          </a:xfrm>
          <a:prstGeom prst="roundRect">
            <a:avLst>
              <a:gd name="adj" fmla="val 2264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1500" y="2702966"/>
            <a:ext cx="3504895" cy="38405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66851" y="2998318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🤲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66851" y="3646627"/>
            <a:ext cx="3010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Human-Generated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Training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6851" y="4284878"/>
            <a:ext cx="30102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Humans wear the glove to perform real tasks, generating labeled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tactile datasets</a:t>
            </a: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robot learning.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34256" y="2702966"/>
            <a:ext cx="3524098" cy="3038551"/>
          </a:xfrm>
          <a:prstGeom prst="roundRect">
            <a:avLst>
              <a:gd name="adj" fmla="val 2264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34256" y="2702966"/>
            <a:ext cx="3504895" cy="38405"/>
          </a:xfrm>
          <a:prstGeom prst="rect">
            <a:avLst/>
          </a:prstGeom>
          <a:solidFill>
            <a:srgbClr val="00A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29607" y="2998318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629607" y="3646627"/>
            <a:ext cx="3010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Standardized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Touch Format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29607" y="4284878"/>
            <a:ext cx="30102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 Pixel</a:t>
            </a: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atomic unit of tactile data that enables seamless cross-platform AI model training.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6098" y="2702966"/>
            <a:ext cx="3524098" cy="3038551"/>
          </a:xfrm>
          <a:prstGeom prst="roundRect">
            <a:avLst>
              <a:gd name="adj" fmla="val 2264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96098" y="2702966"/>
            <a:ext cx="3504895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391449" y="2998318"/>
            <a:ext cx="3048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391449" y="3646627"/>
            <a:ext cx="3010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Robot Capability 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kern="0" spc="38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Leap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91449" y="4284878"/>
            <a:ext cx="30102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tactile data, robots learn to handle eggs, thread needles, and detect surface textures — tasks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alone cannot teach</a:t>
            </a:r>
            <a:r>
              <a:rPr lang="en-US" sz="12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71500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Touch Data: The Next Training Frontier</a:t>
            </a:r>
            <a:endParaRPr lang="en-US" sz="27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1037844"/>
            <a:ext cx="761695" cy="38405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232490" y="6519672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06/08</a:t>
            </a:r>
            <a:endParaRPr lang="en-US" sz="10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0" y="-381305"/>
            <a:ext cx="7619695" cy="76196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0102" y="2548433"/>
            <a:ext cx="44010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220102" y="2195474"/>
            <a:ext cx="4476902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76856" y="1480414"/>
            <a:ext cx="2667305" cy="2667305"/>
          </a:xfrm>
          <a:prstGeom prst="ellipse">
            <a:avLst/>
          </a:prstGeom>
          <a:noFill/>
          <a:ln w="25400">
            <a:solidFill>
              <a:srgbClr val="00AAFF">
                <a:alpha val="30000"/>
              </a:srgbClr>
            </a:solidFill>
            <a:prstDash val="solid"/>
          </a:ln>
          <a:effectLst>
            <a:outerShdw blurRad="482600" dist="12700" dir="16200000" algn="bl" rotWithShape="0">
              <a:srgbClr val="00AAFF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rot="1920000">
            <a:off x="2066544" y="1270102"/>
            <a:ext cx="3047695" cy="3047695"/>
          </a:xfrm>
          <a:prstGeom prst="ellipse">
            <a:avLst/>
          </a:prstGeom>
          <a:noFill/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645359" y="2356409"/>
            <a:ext cx="20884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$1.5M</a:t>
            </a:r>
            <a:endParaRPr lang="en-US" sz="4800" dirty="0"/>
          </a:p>
        </p:txBody>
      </p:sp>
      <p:sp>
        <p:nvSpPr>
          <p:cNvPr id="10" name="Shape 7"/>
          <p:cNvSpPr/>
          <p:nvPr/>
        </p:nvSpPr>
        <p:spPr>
          <a:xfrm>
            <a:off x="571500" y="4528109"/>
            <a:ext cx="1904695" cy="1742846"/>
          </a:xfrm>
          <a:prstGeom prst="roundRect">
            <a:avLst>
              <a:gd name="adj" fmla="val 6881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4528109"/>
            <a:ext cx="1904695" cy="38405"/>
          </a:xfrm>
          <a:prstGeom prst="roundRect">
            <a:avLst>
              <a:gd name="adj" fmla="val 312254"/>
            </a:avLst>
          </a:prstGeom>
          <a:solidFill>
            <a:srgbClr val="00AAFF"/>
          </a:solidFill>
          <a:ln w="12700">
            <a:solidFill>
              <a:srgbClr val="00A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1378001" y="4756709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83564" y="5080406"/>
            <a:ext cx="8769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60%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1280160" y="5585155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25119" y="5890565"/>
            <a:ext cx="159837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Engineering + BD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660904" y="4528109"/>
            <a:ext cx="1904695" cy="1742846"/>
          </a:xfrm>
          <a:prstGeom prst="roundRect">
            <a:avLst>
              <a:gd name="adj" fmla="val 6881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660904" y="4528109"/>
            <a:ext cx="1904695" cy="38405"/>
          </a:xfrm>
          <a:prstGeom prst="roundRect">
            <a:avLst>
              <a:gd name="adj" fmla="val 312254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95751" y="4756709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171139" y="5080406"/>
            <a:ext cx="886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3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25%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3156509" y="558515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2996489" y="5890565"/>
            <a:ext cx="1235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Hardware Dev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49394" y="4528109"/>
            <a:ext cx="1904695" cy="1742846"/>
          </a:xfrm>
          <a:prstGeom prst="roundRect">
            <a:avLst>
              <a:gd name="adj" fmla="val 6881"/>
            </a:avLst>
          </a:prstGeom>
          <a:solidFill>
            <a:srgbClr val="13131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49394" y="4528109"/>
            <a:ext cx="1904695" cy="38405"/>
          </a:xfrm>
          <a:prstGeom prst="roundRect">
            <a:avLst>
              <a:gd name="adj" fmla="val 312254"/>
            </a:avLst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555894" y="4756709"/>
            <a:ext cx="286207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327294" y="5080406"/>
            <a:ext cx="743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CCCC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15%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5254142" y="5585155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IP &amp; Legal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269687" y="5890565"/>
            <a:ext cx="8622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Patent Filing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220102" y="2938882"/>
            <a:ext cx="19202" cy="25146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7505395" y="2842870"/>
            <a:ext cx="42291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2025 Q3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505395" y="3176626"/>
            <a:ext cx="42291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Working Prototype Complete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505395" y="3871570"/>
            <a:ext cx="42291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B35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2025 Q4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7505395" y="4205326"/>
            <a:ext cx="42291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OEM Pilot Deployed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7505395" y="4900270"/>
            <a:ext cx="42291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2027 Q4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7505395" y="5234026"/>
            <a:ext cx="42291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Break-even Point Reached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9207094" y="5753405"/>
            <a:ext cx="25164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tactoskin.com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7172554" y="2890418"/>
            <a:ext cx="114300" cy="114300"/>
          </a:xfrm>
          <a:prstGeom prst="ellipse">
            <a:avLst/>
          </a:prstGeom>
          <a:solidFill>
            <a:srgbClr val="0C0C0F"/>
          </a:solidFill>
          <a:ln w="2540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172554" y="3919118"/>
            <a:ext cx="114300" cy="114300"/>
          </a:xfrm>
          <a:prstGeom prst="ellipse">
            <a:avLst/>
          </a:prstGeom>
          <a:solidFill>
            <a:srgbClr val="0C0C0F"/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7172554" y="4947818"/>
            <a:ext cx="114300" cy="114300"/>
          </a:xfrm>
          <a:prstGeom prst="ellipse">
            <a:avLst/>
          </a:prstGeom>
          <a:solidFill>
            <a:srgbClr val="0C0C0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571500" y="381305"/>
            <a:ext cx="112398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Seed Round </a:t>
            </a:r>
            <a:r>
              <a:rPr lang="en-US" sz="2700" b="1" kern="0" spc="-75" dirty="0">
                <a:solidFill>
                  <a:srgbClr val="00AA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·</a:t>
            </a: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 $1.5M</a:t>
            </a:r>
            <a:endParaRPr lang="en-US" sz="27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rcRect t="-420" b="-420"/>
          <a:stretch/>
        </p:blipFill>
        <p:spPr>
          <a:xfrm>
            <a:off x="571500" y="1037844"/>
            <a:ext cx="761695" cy="38405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571500" y="6519672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11243462" y="6519672"/>
            <a:ext cx="4572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07/08</a:t>
            </a:r>
            <a:endParaRPr lang="en-US" sz="10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>
            <a:alphaModFix amt="50000"/>
          </a:blip>
          <a:srcRect l="-2083" r="-2083"/>
          <a:stretch/>
        </p:blipFill>
        <p:spPr>
          <a:xfrm>
            <a:off x="0" y="6381598"/>
            <a:ext cx="12191695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4809744"/>
            <a:ext cx="5715000" cy="15718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1500" y="5208422"/>
            <a:ext cx="466801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Delicate enough to feel what cameras cannot see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81305"/>
            <a:ext cx="53062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75" dirty="0">
                <a:solidFill>
                  <a:srgbClr val="FFFFFF"/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Precision Beyond Vision</a:t>
            </a:r>
            <a:endParaRPr lang="en-US" sz="2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571500" y="1037844"/>
            <a:ext cx="761695" cy="384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0C0C0F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FF6B35">
              <a:alpha val="30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571500" y="6524244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FFFFFF">
                    <a:alpha val="60000"/>
                  </a:srgbClr>
                </a:solidFill>
                <a:latin typeface="Orbitron" pitchFamily="34" charset="0"/>
                <a:ea typeface="Orbitron" pitchFamily="34" charset="-122"/>
                <a:cs typeface="Orbitron" pitchFamily="34" charset="-120"/>
              </a:rPr>
              <a:t>TACTOSKIN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11233404" y="6524244"/>
            <a:ext cx="4672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08/08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rcRect l="-2083" r="-2083"/>
          <a:stretch/>
        </p:blipFill>
        <p:spPr>
          <a:xfrm>
            <a:off x="0" y="6391656"/>
            <a:ext cx="12191695" cy="9144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D03F6B73-B278-3903-12F0-CA173209AB18}"/>
              </a:ext>
            </a:extLst>
          </p:cNvPr>
          <p:cNvSpPr txBox="1"/>
          <p:nvPr/>
        </p:nvSpPr>
        <p:spPr>
          <a:xfrm>
            <a:off x="3905401" y="6436053"/>
            <a:ext cx="5334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kern="0" spc="38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Let's build the sense of touch,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422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Space Grotesk</vt:lpstr>
      <vt:lpstr>Arial</vt:lpstr>
      <vt:lpstr>Orbitron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Zach H</cp:lastModifiedBy>
  <cp:revision>2</cp:revision>
  <dcterms:created xsi:type="dcterms:W3CDTF">2026-02-26T19:57:01Z</dcterms:created>
  <dcterms:modified xsi:type="dcterms:W3CDTF">2026-02-26T20:09:39Z</dcterms:modified>
</cp:coreProperties>
</file>